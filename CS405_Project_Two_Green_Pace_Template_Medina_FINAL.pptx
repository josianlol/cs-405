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0" r:id="rId13"/>
    <p:sldId id="271" r:id="rId14"/>
    <p:sldId id="272" r:id="rId15"/>
    <p:sldId id="273" r:id="rId16"/>
    <p:sldId id="274" r:id="rId17"/>
    <p:sldId id="275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  <p:embeddedFontLst>
    <p:embeddedFont>
      <p:font typeface="Century Gothic" panose="020B0502020202020204" pitchFamily="34" charset="0"/>
      <p:regular r:id="rId26"/>
      <p:bold r:id="rId27"/>
      <p:italic r:id="rId28"/>
      <p:boldItalic r:id="rId29"/>
    </p:embeddedFont>
  </p:embeddedFontLst>
  <p:custDataLst>
    <p:tags r:id="rId3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lYlCtF+airiOZksSy3UV5ad0g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2198C4-3087-4945-87E3-76CBB3509B7E}">
  <a:tblStyle styleId="{802198C4-3087-4945-87E3-76CBB3509B7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2" y="18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91965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9504e295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9504e295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6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 txBox="1"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8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dt" idx="10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ftr" idx="11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3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4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1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2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>
            <a:spLocks noGrp="1"/>
          </p:cNvSpPr>
          <p:nvPr>
            <p:ph type="pic" idx="2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>
            <a:spLocks noGrp="1"/>
          </p:cNvSpPr>
          <p:nvPr>
            <p:ph type="pic" idx="2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6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dt" idx="10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ftr" idx="11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7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7"/>
          <p:cNvSpPr txBox="1"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body" idx="1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2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dt" idx="10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ftr" idx="11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7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7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8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8"/>
          <p:cNvSpPr txBox="1"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dt" idx="10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ftr" idx="11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body" idx="2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body" idx="3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body" idx="4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5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body" idx="6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30"/>
          <p:cNvSpPr>
            <a:spLocks noGrp="1"/>
          </p:cNvSpPr>
          <p:nvPr>
            <p:ph type="pic" idx="2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body" idx="3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4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30"/>
          <p:cNvSpPr>
            <a:spLocks noGrp="1"/>
          </p:cNvSpPr>
          <p:nvPr>
            <p:ph type="pic" idx="5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body" idx="6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body" idx="7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30"/>
          <p:cNvSpPr>
            <a:spLocks noGrp="1"/>
          </p:cNvSpPr>
          <p:nvPr>
            <p:ph type="pic" idx="8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body" idx="9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body" idx="1"/>
          </p:nvPr>
        </p:nvSpPr>
        <p:spPr>
          <a:xfrm rot="5400000">
            <a:off x="4083937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2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 rot="5400000">
            <a:off x="8525933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body" idx="1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dt" idx="10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ftr" idx="11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" descr="C0-HD-TOP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4.png"/><Relationship Id="rId2" Type="http://schemas.microsoft.com/office/2007/relationships/media" Target="../media/media1.m4a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" descr="Green Pace log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0774" y="659854"/>
            <a:ext cx="2921424" cy="378677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914400" y="1417320"/>
            <a:ext cx="548640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3400" b="1">
                <a:solidFill>
                  <a:srgbClr val="75BED2"/>
                </a:solidFill>
                <a:latin typeface="Arial"/>
              </a:rPr>
              <a:t>Green Pace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2048256"/>
            <a:ext cx="640080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400" b="0">
                <a:solidFill>
                  <a:srgbClr val="BECDCD"/>
                </a:solidFill>
                <a:latin typeface="Arial"/>
              </a:rPr>
              <a:t>Security Policy Presentation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2788920"/>
            <a:ext cx="566928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>
                <a:solidFill>
                  <a:srgbClr val="E1EBEB"/>
                </a:solidFill>
                <a:latin typeface="Arial"/>
              </a:rPr>
              <a:t>Developer: José Medina</a:t>
            </a:r>
          </a:p>
          <a:p>
            <a:pPr algn="l"/>
            <a:r>
              <a:rPr sz="1800" b="0">
                <a:solidFill>
                  <a:srgbClr val="E1EBEB"/>
                </a:solidFill>
                <a:latin typeface="Arial"/>
              </a:rPr>
              <a:t>CS 405: Secure Coding</a:t>
            </a:r>
          </a:p>
          <a:p>
            <a:pPr algn="l"/>
            <a:r>
              <a:rPr sz="1800" b="0">
                <a:solidFill>
                  <a:srgbClr val="E1EBEB"/>
                </a:solidFill>
                <a:latin typeface="Arial"/>
              </a:rPr>
              <a:t>Professor Olga Mill</a:t>
            </a:r>
          </a:p>
          <a:p>
            <a:pPr algn="l"/>
            <a:r>
              <a:rPr sz="1800" b="0">
                <a:solidFill>
                  <a:srgbClr val="E1EBEB"/>
                </a:solidFill>
                <a:latin typeface="Arial"/>
              </a:rPr>
              <a:t>August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4400" y="5394960"/>
            <a:ext cx="658368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Project Two: external testing methods, automation, and future security-policy recommendations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377C4A3-55AC-AABC-6C36-D502D7692AE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7483647"/>
    </mc:Choice>
    <mc:Fallback>
      <p:transition spd="slow" advTm="21474836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OVERVIEW: DEFENSE IN DEPTH</a:t>
            </a:r>
            <a:endParaRPr/>
          </a:p>
        </p:txBody>
      </p:sp>
      <p:pic>
        <p:nvPicPr>
          <p:cNvPr id="153" name="Google Shape;153;p3" descr="NHS (Healthcare) Defense in Depth – Shaun Van Niekerk&#10;Screenshot of defense-in-depth best practice of layered security.  This illustration provides a visual representation of the defense-in-depth best practice of layered security.&#10;Shows the following layers of developer defense: Physical security, Cloud security, Perimeter security, network security, Host security, Endpoint security, APP security and critical assets, systems, and data security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3800" y="1554480"/>
            <a:ext cx="406908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TextBox 154"/>
          <p:cNvSpPr txBox="1"/>
          <p:nvPr/>
        </p:nvSpPr>
        <p:spPr>
          <a:xfrm>
            <a:off x="731520" y="1417320"/>
            <a:ext cx="5303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Security should be built into design, coding, testing, release, and monitoring.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1520" y="1874519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31520" y="1874519"/>
            <a:ext cx="73152" cy="114300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68680" y="1984248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Problem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Security handled different ways creates gaps and missed controls.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926080" y="1874519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926080" y="1874519"/>
            <a:ext cx="73152" cy="11430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3063240" y="1984248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Policy role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Best practices become repeatable standards that can be reviewed and tested.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212080" y="1874519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212080" y="1874519"/>
            <a:ext cx="73152" cy="114300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349240" y="1984248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Outcome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Green Pace reduces risk across code, data, identity, and testing.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77240" y="3383280"/>
            <a:ext cx="6492240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700" b="0">
                <a:solidFill>
                  <a:srgbClr val="E1EBEB"/>
                </a:solidFill>
                <a:latin typeface="Arial"/>
              </a:rPr>
              <a:t>• Defense in depth means the team does not depend on one control.</a:t>
            </a:r>
          </a:p>
          <a:p>
            <a:pPr algn="l"/>
            <a:r>
              <a:rPr sz="1700" b="0">
                <a:solidFill>
                  <a:srgbClr val="E1EBEB"/>
                </a:solidFill>
                <a:latin typeface="Arial"/>
              </a:rPr>
              <a:t>• Coding standards help developers prevent known C++ vulnerabilities.</a:t>
            </a:r>
          </a:p>
          <a:p>
            <a:pPr algn="l"/>
            <a:r>
              <a:rPr sz="1700" b="0">
                <a:solidFill>
                  <a:srgbClr val="E1EBEB"/>
                </a:solidFill>
                <a:latin typeface="Arial"/>
              </a:rPr>
              <a:t>• Automation and unit testing help catch mistakes before release.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52360" y="4343400"/>
            <a:ext cx="3840480" cy="105156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600" b="1">
                <a:solidFill>
                  <a:srgbClr val="60914C"/>
                </a:solidFill>
                <a:latin typeface="Arial"/>
              </a:rPr>
              <a:t>Policy logic</a:t>
            </a:r>
          </a:p>
          <a:p>
            <a:pPr algn="ctr"/>
            <a:r>
              <a:rPr sz="1600" b="1">
                <a:solidFill>
                  <a:srgbClr val="60914C"/>
                </a:solidFill>
                <a:latin typeface="Arial"/>
              </a:rPr>
              <a:t>Prevent first → test early → automate checks → monitor after release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1520" y="6199632"/>
            <a:ext cx="36576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Green Pace policy; NIST SP 800-53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2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894F6BE4-BD7D-A2F5-B12C-DB06C7A3428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THREATS MATRIX</a:t>
            </a:r>
            <a:endParaRPr/>
          </a:p>
        </p:txBody>
      </p:sp>
      <p:pic>
        <p:nvPicPr>
          <p:cNvPr id="162" name="Google Shape;162;p4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TextBox 162"/>
          <p:cNvSpPr txBox="1"/>
          <p:nvPr/>
        </p:nvSpPr>
        <p:spPr>
          <a:xfrm>
            <a:off x="731520" y="1417320"/>
            <a:ext cx="73152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Priority is based on severity, likelihood, remediation cost, and overall threat level.</a:t>
            </a:r>
          </a:p>
        </p:txBody>
      </p:sp>
      <p:graphicFrame>
        <p:nvGraphicFramePr>
          <p:cNvPr id="164" name="Table 163"/>
          <p:cNvGraphicFramePr>
            <a:graphicFrameLocks noGrp="1"/>
          </p:cNvGraphicFramePr>
          <p:nvPr/>
        </p:nvGraphicFramePr>
        <p:xfrm>
          <a:off x="731520" y="1783080"/>
          <a:ext cx="60807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82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Main risk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STD-004-CPP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solidFill>
                            <a:srgbClr val="192026"/>
                          </a:solidFill>
                          <a:latin typeface="Arial"/>
                        </a:rPr>
                        <a:t>SQL injection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Likely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STD-005-CPP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solidFill>
                            <a:srgbClr val="192026"/>
                          </a:solidFill>
                          <a:latin typeface="Arial"/>
                        </a:rPr>
                        <a:t>Use-after-free memory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Likely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STD-002-CPP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Signed integer overflow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Likely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STD-003-CPP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String buffer/storage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Likely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STD-008-CPP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Container out-of-range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Likely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STD-009-CPP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Uninitialized memory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Probable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STD-007-CPP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Hidden exceptions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Probable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STD-010-CPP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Unreleased locks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Probable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STD-001-CPP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Size/index types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Unlikely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9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STD-006-CPP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Assertion side effects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2026"/>
                          </a:solidFill>
                          <a:latin typeface="Arial"/>
                        </a:rPr>
                        <a:t>Unlikely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solidFill>
                            <a:srgbClr val="1920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5" name="TextBox 164"/>
          <p:cNvSpPr txBox="1"/>
          <p:nvPr/>
        </p:nvSpPr>
        <p:spPr>
          <a:xfrm>
            <a:off x="7543800" y="1691640"/>
            <a:ext cx="3794760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700" b="1">
                <a:solidFill>
                  <a:srgbClr val="E1EBEB"/>
                </a:solidFill>
                <a:latin typeface="Arial"/>
              </a:rPr>
              <a:t>Why SQL injection and memory are first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543800" y="2514600"/>
            <a:ext cx="3703320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>
                <a:solidFill>
                  <a:srgbClr val="E1EBEB"/>
                </a:solidFill>
                <a:latin typeface="Arial"/>
              </a:rPr>
              <a:t>• They can expose sensitive records, damage data, or crash the program.</a:t>
            </a:r>
          </a:p>
          <a:p>
            <a:pPr algn="l"/>
            <a:r>
              <a:rPr sz="1300" b="0">
                <a:solidFill>
                  <a:srgbClr val="E1EBEB"/>
                </a:solidFill>
                <a:latin typeface="Arial"/>
              </a:rPr>
              <a:t>• They involve untrusted input or unsafe memory access.</a:t>
            </a:r>
          </a:p>
          <a:p>
            <a:pPr algn="l"/>
            <a:r>
              <a:rPr sz="1300" b="0">
                <a:solidFill>
                  <a:srgbClr val="E1EBEB"/>
                </a:solidFill>
                <a:latin typeface="Arial"/>
              </a:rPr>
              <a:t>• They should be addressed before lower-level issues because the business impact is higher.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543800" y="3977639"/>
            <a:ext cx="3657600" cy="86868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300" b="0">
                <a:solidFill>
                  <a:srgbClr val="192026"/>
                </a:solidFill>
                <a:latin typeface="Arial"/>
              </a:rPr>
              <a:t>Matrix rule</a:t>
            </a:r>
          </a:p>
          <a:p>
            <a:pPr algn="l"/>
            <a:r>
              <a:rPr sz="1300" b="0">
                <a:solidFill>
                  <a:srgbClr val="192026"/>
                </a:solidFill>
                <a:latin typeface="Arial"/>
              </a:rPr>
              <a:t>High severity + likely exploit path = treat first. Medium issues still matter, but they come after level 5 and 4 items.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43800" y="5074920"/>
            <a:ext cx="3657600" cy="6858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1">
                <a:solidFill>
                  <a:srgbClr val="E1EBEB"/>
                </a:solidFill>
                <a:latin typeface="Arial"/>
              </a:rPr>
              <a:t>Automated detection</a:t>
            </a:r>
          </a:p>
          <a:p>
            <a:pPr algn="l"/>
            <a:r>
              <a:rPr sz="1300" b="1">
                <a:solidFill>
                  <a:srgbClr val="E1EBEB"/>
                </a:solidFill>
                <a:latin typeface="Arial"/>
              </a:rPr>
              <a:t>CodeQL, Parasoft C/C++test, and SonarQube can scan code during development and builds to flag these violations.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1520" y="6199632"/>
            <a:ext cx="36576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Green Pace Project One policy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3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10 PRINCIPLES</a:t>
            </a:r>
            <a:endParaRPr/>
          </a:p>
        </p:txBody>
      </p:sp>
      <p:pic>
        <p:nvPicPr>
          <p:cNvPr id="169" name="Google Shape;169;p5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731520" y="1417320"/>
            <a:ext cx="77724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Each coding standard connects back to the security principles used in the policy.</a:t>
            </a:r>
          </a:p>
        </p:txBody>
      </p:sp>
      <p:graphicFrame>
        <p:nvGraphicFramePr>
          <p:cNvPr id="171" name="Table 170"/>
          <p:cNvGraphicFramePr>
            <a:graphicFrameLocks noGrp="1"/>
          </p:cNvGraphicFramePr>
          <p:nvPr/>
        </p:nvGraphicFramePr>
        <p:xfrm>
          <a:off x="685800" y="1783080"/>
          <a:ext cx="5212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Standards/sections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Validate Input Data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STD-002, 003, 004, 008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Heed Compiler Warnings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STD-001, 009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Architect and Design for Security Policies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Policy-wide; no direct STD mapping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Keep It Simple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STD-005, 006, 007, 010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Default Deny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92026"/>
                          </a:solidFill>
                          <a:latin typeface="Arial"/>
                        </a:rPr>
                        <a:t>STD-009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2" name="Table 171"/>
          <p:cNvGraphicFramePr>
            <a:graphicFrameLocks noGrp="1"/>
          </p:cNvGraphicFramePr>
          <p:nvPr/>
        </p:nvGraphicFramePr>
        <p:xfrm>
          <a:off x="6080760" y="1783080"/>
          <a:ext cx="5349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Standards/sections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Adhere to the Principle of Least Privilege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Policy-wide; no direct STD mapping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Sanitize Data Sent to Other Systems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STD-004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Practice Defense in Depth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STD-003, 004, 005, 007, 008, 010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Use Effective Quality Assurance Techniques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STD-002, 006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Adopt a Secure Coding Standard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0">
                          <a:solidFill>
                            <a:srgbClr val="192026"/>
                          </a:solidFill>
                          <a:latin typeface="Arial"/>
                        </a:rPr>
                        <a:t>All STD rules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3" name="Rounded Rectangle 172"/>
          <p:cNvSpPr/>
          <p:nvPr/>
        </p:nvSpPr>
        <p:spPr>
          <a:xfrm>
            <a:off x="1097280" y="5577840"/>
            <a:ext cx="9784080" cy="59436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500" b="1">
                <a:solidFill>
                  <a:srgbClr val="12374E"/>
                </a:solidFill>
                <a:latin typeface="Arial"/>
              </a:rPr>
              <a:t>Takeaway: the policy is not random. The standards are connected to repeatable security principles that developers can apply across projects.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31520" y="6199632"/>
            <a:ext cx="36576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Green Pace Project One policy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4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CODING STANDARDS</a:t>
            </a:r>
            <a:endParaRPr/>
          </a:p>
        </p:txBody>
      </p:sp>
      <p:pic>
        <p:nvPicPr>
          <p:cNvPr id="176" name="Google Shape;176;p6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TextBox 176"/>
          <p:cNvSpPr txBox="1"/>
          <p:nvPr/>
        </p:nvSpPr>
        <p:spPr>
          <a:xfrm>
            <a:off x="731520" y="1417320"/>
            <a:ext cx="9326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The highest-risk standards should be fixed first, then the remaining standards should be enforced consistently.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1520" y="1783080"/>
            <a:ext cx="512064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Highest-priority standards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17920" y="1783080"/>
            <a:ext cx="512064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Remaining standards</a:t>
            </a:r>
          </a:p>
        </p:txBody>
      </p:sp>
      <p:graphicFrame>
        <p:nvGraphicFramePr>
          <p:cNvPr id="180" name="Table 179"/>
          <p:cNvGraphicFramePr>
            <a:graphicFrameLocks noGrp="1"/>
          </p:cNvGraphicFramePr>
          <p:nvPr/>
        </p:nvGraphicFramePr>
        <p:xfrm>
          <a:off x="731520" y="2148840"/>
          <a:ext cx="5257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STD-004-CPP SQL Injection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Prepared statements and bound parameters stop user input from becoming SQL commands.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STD-005-CPP Memory Protection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Use smart pointers and avoid use-after-free defects.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STD-002-CPP Integer Overflow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Check arithmetic before a signed result exceeds the valid range.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STD-003-CPP String Storage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Use safe string storage and validate length before use.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STD-008-CPP Container Safety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Range-check indexes and use checked access when possible.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6217920" y="2148840"/>
          <a:ext cx="5257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STD-009-CPP Initialization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Start values in a known safe state.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STD-007-CPP Exceptions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Log and rethrow instead of hiding failures.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STD-010-CPP Concurrency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Use RAII locks so exceptions do not leave resources locked.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STD-001-CPP Data Type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Use std::size_t for sizes and container indexes.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STD-006-CPP Assertions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92026"/>
                          </a:solidFill>
                          <a:latin typeface="Arial"/>
                        </a:rPr>
                        <a:t>Keep side effects out of assertions.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2" name="TextBox 181"/>
          <p:cNvSpPr txBox="1"/>
          <p:nvPr/>
        </p:nvSpPr>
        <p:spPr>
          <a:xfrm>
            <a:off x="1143000" y="5715000"/>
            <a:ext cx="98755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>
                <a:solidFill>
                  <a:srgbClr val="60914C"/>
                </a:solidFill>
                <a:latin typeface="Arial"/>
              </a:rPr>
              <a:t>Priority system: Level 5 first, then Level 4, Level 3, and Level 2. When levels match, likelihood helps determine the order.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31520" y="6199632"/>
            <a:ext cx="36576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Green Pace Project One risk table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5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ENCRYPTION POLICIES</a:t>
            </a:r>
            <a:endParaRPr/>
          </a:p>
        </p:txBody>
      </p:sp>
      <p:pic>
        <p:nvPicPr>
          <p:cNvPr id="183" name="Google Shape;183;p7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TextBox 183"/>
          <p:cNvSpPr txBox="1"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Encryption should protect data while it is stored, moving, and being processed.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731520" y="1874519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731520" y="1874519"/>
            <a:ext cx="73152" cy="155448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868680" y="198424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At rest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Use approved encryption such as AES-256 for sensitive data in databases, backups, laptops, servers, and files. Keep keys separate from the data they protect.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389120" y="1874519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4389120" y="1874519"/>
            <a:ext cx="73152" cy="155448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4526280" y="198424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In flight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Use TLS 1.3 when supported, or securely configured TLS 1.2 when necessary, for web traffic, APIs, database connections, and file transfers.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046720" y="1874519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046720" y="1874519"/>
            <a:ext cx="73152" cy="1554480"/>
          </a:xfrm>
          <a:prstGeom prst="rect">
            <a:avLst/>
          </a:prstGeom>
          <a:solidFill>
            <a:srgbClr val="DB9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183880" y="198424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In use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Limit sensitive plaintext in memory, avoid logging secrets, reduce unnecessary copies, and restrict process access.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68680" y="3977639"/>
            <a:ext cx="5303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Design choice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68680" y="4343400"/>
            <a:ext cx="5212080" cy="11887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Classify sensitive data before storing or moving it.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Centralize key management instead of hardcoding keys in source code.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Review encryption settings during architecture reviews and release checks.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492240" y="3977639"/>
            <a:ext cx="48463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Why it should be applied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92240" y="4343400"/>
            <a:ext cx="4846320" cy="11887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A lost or stolen device should not expose sensitive data.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Intercepted network traffic should stay unreadable.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Processing should be limited to what the application actually needs.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NIST SP 800-57; NIST SP 800-52 Rev. 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6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TRIPLE-A POLICIES</a:t>
            </a:r>
            <a:endParaRPr/>
          </a:p>
        </p:txBody>
      </p:sp>
      <p:pic>
        <p:nvPicPr>
          <p:cNvPr id="190" name="Google Shape;190;p8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TextBox 190"/>
          <p:cNvSpPr txBox="1"/>
          <p:nvPr/>
        </p:nvSpPr>
        <p:spPr>
          <a:xfrm>
            <a:off x="731520" y="1417320"/>
            <a:ext cx="9326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Triple-A controls answer three questions: Who are you? What can you do? What did you do?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731520" y="1874519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731520" y="1874519"/>
            <a:ext cx="73152" cy="141732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868680" y="198424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Authentication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Verify identity before access. Use unique accounts, strong password controls, and MFA for privileged or remote access.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4389120" y="1874519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4389120" y="1874519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4526280" y="198424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Authorization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Apply least privilege and default deny. Users should only access records, files, and functions needed for their job.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046720" y="1874519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8046720" y="1874519"/>
            <a:ext cx="73152" cy="1417320"/>
          </a:xfrm>
          <a:prstGeom prst="rect">
            <a:avLst/>
          </a:prstGeom>
          <a:solidFill>
            <a:srgbClr val="DB9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8183880" y="198424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Accounting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Record important activity: logins, database changes, new users, access-level changes, and protected file access.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68680" y="3703320"/>
            <a:ext cx="1014984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Best practice for implementation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60120" y="4096512"/>
            <a:ext cx="10058400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700" b="0">
                <a:solidFill>
                  <a:srgbClr val="E1EBEB"/>
                </a:solidFill>
                <a:latin typeface="Arial"/>
              </a:rPr>
              <a:t>• Use centralized identity when possible so account changes are consistent.</a:t>
            </a:r>
          </a:p>
          <a:p>
            <a:pPr algn="l"/>
            <a:r>
              <a:rPr sz="1700" b="0">
                <a:solidFill>
                  <a:srgbClr val="E1EBEB"/>
                </a:solidFill>
                <a:latin typeface="Arial"/>
              </a:rPr>
              <a:t>• Review permissions regularly, especially for admin roles.</a:t>
            </a:r>
          </a:p>
          <a:p>
            <a:pPr algn="l"/>
            <a:r>
              <a:rPr sz="1700" b="0">
                <a:solidFill>
                  <a:srgbClr val="E1EBEB"/>
                </a:solidFill>
                <a:latin typeface="Arial"/>
              </a:rPr>
              <a:t>• Protect audit logs so they cannot be changed by the same account being investigated.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920240" y="5623560"/>
            <a:ext cx="8412480" cy="41148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700" b="1">
                <a:solidFill>
                  <a:srgbClr val="12374E"/>
                </a:solidFill>
                <a:latin typeface="Arial"/>
              </a:rPr>
              <a:t>Good identity controls limit both accidental misuse and intentional abuse.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NIST SP 800-53; NIST SP 800-63B-4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7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Unit Testing</a:t>
            </a:r>
            <a:endParaRPr/>
          </a:p>
        </p:txBody>
      </p:sp>
      <p:pic>
        <p:nvPicPr>
          <p:cNvPr id="197" name="Google Shape;197;g9504e29505_0_0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TextBox 197"/>
          <p:cNvSpPr txBox="1"/>
          <p:nvPr/>
        </p:nvSpPr>
        <p:spPr>
          <a:xfrm>
            <a:off x="731520" y="1417320"/>
            <a:ext cx="96012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Unit tests check whether small pieces of code behave safely under normal and hostile inputs.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22960" y="1874519"/>
            <a:ext cx="5303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How a framework like GoogleTest helps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68680" y="2267712"/>
            <a:ext cx="5303520" cy="1325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Each test focuses on one rule or expected behavior.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Assertions show what secure behavior should be.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Passing tests give repeatable evidence, not a security guarantee.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Failing tests give developers a clear place to start.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400800" y="1874519"/>
            <a:ext cx="4389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000" b="1">
                <a:solidFill>
                  <a:srgbClr val="60914C"/>
                </a:solidFill>
                <a:latin typeface="Arial"/>
              </a:rPr>
              <a:t>Testing flow</a:t>
            </a:r>
          </a:p>
          <a:p>
            <a:pPr algn="ctr"/>
            <a:r>
              <a:rPr sz="2000" b="1">
                <a:solidFill>
                  <a:srgbClr val="60914C"/>
                </a:solidFill>
                <a:latin typeface="Arial"/>
              </a:rPr>
              <a:t>secure function → GoogleTest case → pass/fail result → fix before release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400800" y="3259809"/>
            <a:ext cx="4389120" cy="6858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 dirty="0">
                <a:solidFill>
                  <a:srgbClr val="E1EBEB"/>
                </a:solidFill>
                <a:latin typeface="Arial"/>
              </a:rPr>
              <a:t>Take it further: add edge cases, malicious inputs, boundary values, and repeated test runs in the build pipeline.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22960" y="3929514"/>
            <a:ext cx="100584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700" b="1">
                <a:solidFill>
                  <a:srgbClr val="E1EBEB"/>
                </a:solidFill>
                <a:latin typeface="Arial"/>
              </a:rPr>
              <a:t>Unit tests in this deck: three positive cases and three negative cases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22960" y="4336663"/>
            <a:ext cx="1508760" cy="384048"/>
          </a:xfrm>
          <a:prstGeom prst="roundRect">
            <a:avLst/>
          </a:prstGeom>
          <a:solidFill>
            <a:srgbClr val="B44B47"/>
          </a:solidFill>
          <a:ln w="12700">
            <a:solidFill>
              <a:srgbClr val="B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valid login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2606040" y="4336663"/>
            <a:ext cx="1508760" cy="384048"/>
          </a:xfrm>
          <a:prstGeom prst="roundRect">
            <a:avLst/>
          </a:prstGeom>
          <a:solidFill>
            <a:srgbClr val="B44B47"/>
          </a:solidFill>
          <a:ln w="12700">
            <a:solidFill>
              <a:srgbClr val="B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SQL injection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389120" y="4336663"/>
            <a:ext cx="1508760" cy="384048"/>
          </a:xfrm>
          <a:prstGeom prst="roundRect">
            <a:avLst/>
          </a:prstGeom>
          <a:solidFill>
            <a:srgbClr val="DB9722"/>
          </a:solidFill>
          <a:ln w="12700">
            <a:solidFill>
              <a:srgbClr val="DB9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safe addition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6172200" y="4336663"/>
            <a:ext cx="1508760" cy="384048"/>
          </a:xfrm>
          <a:prstGeom prst="roundRect">
            <a:avLst/>
          </a:prstGeom>
          <a:solidFill>
            <a:srgbClr val="DB9722"/>
          </a:solidFill>
          <a:ln w="12700">
            <a:solidFill>
              <a:srgbClr val="DB9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overflow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955279" y="4336663"/>
            <a:ext cx="1508760" cy="384048"/>
          </a:xfrm>
          <a:prstGeom prst="roundRect">
            <a:avLst/>
          </a:prstGeom>
          <a:solidFill>
            <a:srgbClr val="4A7EAA"/>
          </a:solidFill>
          <a:ln w="12700">
            <a:solidFill>
              <a:srgbClr val="4A7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valid index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9738360" y="4336663"/>
            <a:ext cx="1508760" cy="384048"/>
          </a:xfrm>
          <a:prstGeom prst="roundRect">
            <a:avLst/>
          </a:prstGeom>
          <a:solidFill>
            <a:srgbClr val="60914C"/>
          </a:solidFill>
          <a:ln w="12700">
            <a:solidFill>
              <a:srgbClr val="609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bad index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22960" y="4853540"/>
            <a:ext cx="9875520" cy="50292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 dirty="0">
                <a:solidFill>
                  <a:srgbClr val="12374E"/>
                </a:solidFill>
                <a:latin typeface="Arial"/>
              </a:rPr>
              <a:t>Course evidence: the Module Four milestone showed 15/15 </a:t>
            </a:r>
            <a:r>
              <a:rPr sz="1300" b="1" dirty="0" err="1">
                <a:solidFill>
                  <a:srgbClr val="12374E"/>
                </a:solidFill>
                <a:latin typeface="Arial"/>
              </a:rPr>
              <a:t>GoogleTest</a:t>
            </a:r>
            <a:r>
              <a:rPr sz="1300" b="1" dirty="0">
                <a:solidFill>
                  <a:srgbClr val="12374E"/>
                </a:solidFill>
                <a:latin typeface="Arial"/>
              </a:rPr>
              <a:t> cases passed in Test Explorer, supporting the external testing method shown here.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1520" y="6199632"/>
            <a:ext cx="50292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GoogleTest Primer; Module Four milestone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94CA34-EB1D-6D5F-475E-A9EE1927FA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4638" b="69245"/>
          <a:stretch>
            <a:fillRect/>
          </a:stretch>
        </p:blipFill>
        <p:spPr>
          <a:xfrm>
            <a:off x="3360420" y="5501734"/>
            <a:ext cx="5172590" cy="114848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 dirty="0">
                <a:solidFill>
                  <a:srgbClr val="75BED2"/>
                </a:solidFill>
                <a:latin typeface="Arial"/>
              </a:rPr>
              <a:t>Unit Test 1: Valid Login Authenticates</a:t>
            </a:r>
            <a:endParaRPr dirty="0"/>
          </a:p>
        </p:txBody>
      </p:sp>
      <p:sp>
        <p:nvSpPr>
          <p:cNvPr id="198" name="TextBox 197"/>
          <p:cNvSpPr txBox="1"/>
          <p:nvPr/>
        </p:nvSpPr>
        <p:spPr>
          <a:xfrm>
            <a:off x="731520" y="1325880"/>
            <a:ext cx="86868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STD-004-CPP: Prepared statements and bound parameters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85800" y="1847088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85800" y="1847088"/>
            <a:ext cx="73152" cy="13716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2960" y="1956816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Test 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Confirm that a normal username and password still authenticate when the credentials are valid.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069080" y="1783080"/>
            <a:ext cx="4069080" cy="3611880"/>
          </a:xfrm>
          <a:prstGeom prst="roundRect">
            <a:avLst/>
          </a:prstGeom>
          <a:solidFill>
            <a:srgbClr val="F6F8F9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40" y="190195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74E"/>
                </a:solidFill>
                <a:latin typeface="Arial"/>
              </a:rPr>
              <a:t>GoogleTest example
</a:t>
            </a:r>
          </a:p>
          <a:p>
            <a:r>
              <a:rPr sz="1000" b="0">
                <a:solidFill>
                  <a:srgbClr val="192026"/>
                </a:solidFill>
                <a:latin typeface="Arial"/>
              </a:rPr>
              <a:t>TEST(AuthTests, AllowsValidLogin) {
  std::string user = "jmedina";
  std::string pw = "correctPassword";
  bool allowed = authenticate(db, user, pw);
  EXPECT_TRUE(allowed);
}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66760" y="1847088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366760" y="1847088"/>
            <a:ext cx="73152" cy="132588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503920" y="1956816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Vulnerability caught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This is a positive test. It confirms that the secure fix does not break normal login behavior.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66760" y="3456432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366760" y="3456432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03920" y="356616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Take it further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Add cases for valid users with different roles, normal password length, and locked accounts.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113877" y="5577148"/>
            <a:ext cx="7933764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 dirty="0">
                <a:solidFill>
                  <a:srgbClr val="E1EBEB"/>
                </a:solidFill>
                <a:latin typeface="Arial"/>
              </a:rPr>
              <a:t>Expected result: PASS when valid credentials are accepted; FAIL if normal login is broken.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65760" y="6231290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GoogleTest Primer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459890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 dirty="0">
                <a:solidFill>
                  <a:srgbClr val="C8CDC8"/>
                </a:solidFill>
                <a:latin typeface="Arial"/>
              </a:rPr>
              <a:t>CS 405 Project Two | Green Pace | 9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3F651067-4FEA-DB1A-9F3A-BEEA1AB0316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Unit Test 2: SQL Injection Is Rejected</a:t>
            </a:r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31520" y="1325880"/>
            <a:ext cx="86868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STD-004-CPP: Prepared statements and bound parameters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85800" y="1847088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85800" y="1847088"/>
            <a:ext cx="73152" cy="13716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2960" y="1956816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Test 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Confirm that malicious input is treated as data instead of being executed as SQL.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069080" y="1783080"/>
            <a:ext cx="4069080" cy="3611880"/>
          </a:xfrm>
          <a:prstGeom prst="roundRect">
            <a:avLst/>
          </a:prstGeom>
          <a:solidFill>
            <a:srgbClr val="F6F8F9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40" y="190195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74E"/>
                </a:solidFill>
                <a:latin typeface="Arial"/>
              </a:rPr>
              <a:t>GoogleTest example
</a:t>
            </a:r>
          </a:p>
          <a:p>
            <a:r>
              <a:rPr sz="1000" b="0">
                <a:solidFill>
                  <a:srgbClr val="192026"/>
                </a:solidFill>
                <a:latin typeface="Arial"/>
              </a:rPr>
              <a:t>TEST(AuthTests, RejectsSqlInjection) {
  std::string user = "admin' OR '1'='1";
  std::string pw = "anything";
  bool allowed = authenticate(db, user, pw);
  EXPECT_FALSE(allowed);
}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66760" y="1847088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366760" y="1847088"/>
            <a:ext cx="73152" cy="132588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503920" y="1956816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Vulnerability caught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If unsafe string concatenation returns, this test can expose an authentication bypass.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66760" y="3456432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366760" y="3456432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03920" y="356616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Take it further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Add tests for comments, quotes, empty values, and very long inputs. Pair this with CodeQL cpp/sql-injection.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>
                <a:solidFill>
                  <a:srgbClr val="E1EBEB"/>
                </a:solidFill>
                <a:latin typeface="Arial"/>
              </a:rPr>
              <a:t>Expected result: PASS when secure behavior is enforced; FAIL if unsafe behavior is allowed.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CodeQL; OWASP Top 10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10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44A25FA7-0E37-B3B3-5478-C1CC5500E3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Unit Test 3: Safe Addition Works</a:t>
            </a:r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31520" y="1325880"/>
            <a:ext cx="86868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STD-002-CPP: Prevent signed integer overflow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85800" y="1847088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85800" y="1847088"/>
            <a:ext cx="73152" cy="13716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2960" y="1956816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Test 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Confirm that ordinary arithmetic still works when the result stays inside the valid range.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069080" y="1783080"/>
            <a:ext cx="4069080" cy="3611880"/>
          </a:xfrm>
          <a:prstGeom prst="roundRect">
            <a:avLst/>
          </a:prstGeom>
          <a:solidFill>
            <a:srgbClr val="F6F8F9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40" y="190195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74E"/>
                </a:solidFill>
                <a:latin typeface="Arial"/>
              </a:rPr>
              <a:t>GoogleTest example
</a:t>
            </a:r>
          </a:p>
          <a:p>
            <a:r>
              <a:rPr sz="1000" b="0">
                <a:solidFill>
                  <a:srgbClr val="192026"/>
                </a:solidFill>
                <a:latin typeface="Arial"/>
              </a:rPr>
              <a:t>TEST(OverflowTests, AllowsSafeAddition) {
  int balance = 100;
  int deposit = 25;
  int total = calculate_total(balance, deposit);
  EXPECT_EQ(total, 125);
}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66760" y="1847088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366760" y="1847088"/>
            <a:ext cx="73152" cy="132588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503920" y="1956816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Vulnerability caught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This is a positive test. It confirms the overflow check does not reject normal business values.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66760" y="3456432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366760" y="3456432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03920" y="356616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Take it further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Add normal values at low, medium, and high ranges that should stay below the maximum.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>
                <a:solidFill>
                  <a:srgbClr val="E1EBEB"/>
                </a:solidFill>
                <a:latin typeface="Arial"/>
              </a:rPr>
              <a:t>Expected result: PASS when normal addition returns the correct value; FAIL if safe input is rejected.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SEI CERT INT32-C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11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8B734CB6-9F31-5F8F-E7A8-981569178B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Unit Test 4: Signed Overflow Throws</a:t>
            </a:r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31520" y="1325880"/>
            <a:ext cx="86868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STD-002-CPP: Prevent signed integer overflow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85800" y="1847088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85800" y="1847088"/>
            <a:ext cx="73152" cy="13716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2960" y="1956816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Test 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Check that a value near the integer maximum is rejected before addition happens.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069080" y="1783080"/>
            <a:ext cx="4069080" cy="3611880"/>
          </a:xfrm>
          <a:prstGeom prst="roundRect">
            <a:avLst/>
          </a:prstGeom>
          <a:solidFill>
            <a:srgbClr val="F6F8F9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40" y="190195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74E"/>
                </a:solidFill>
                <a:latin typeface="Arial"/>
              </a:rPr>
              <a:t>GoogleTest example
</a:t>
            </a:r>
          </a:p>
          <a:p>
            <a:r>
              <a:rPr sz="1000" b="0">
                <a:solidFill>
                  <a:srgbClr val="192026"/>
                </a:solidFill>
                <a:latin typeface="Arial"/>
              </a:rPr>
              <a:t>TEST(OverflowTests, ThrowsBeforeOverflow) {
  int balance = std::numeric_limits&lt;int&gt;::max();
  int deposit = 1;
  EXPECT_THROW(
    calculate_total(balance, deposit),
    std::overflow_error);
}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66760" y="1847088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366760" y="1847088"/>
            <a:ext cx="73152" cy="132588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503920" y="1956816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Vulnerability caught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This catches unsafe arithmetic that may produce undefined behavior or wrong security decisions.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66760" y="3456432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366760" y="3456432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03920" y="356616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Take it further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Add boundary tests for zero, negative deposits, and max-minus-one values.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>
                <a:solidFill>
                  <a:srgbClr val="E1EBEB"/>
                </a:solidFill>
                <a:latin typeface="Arial"/>
              </a:rPr>
              <a:t>Expected result: PASS when secure behavior is enforced; FAIL if unsafe behavior is allowed.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SEI CERT INT32-C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12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EFBDD03F-7054-B780-D797-7B2914AC25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Unit Test 5: Valid Index Returns Score</a:t>
            </a:r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31520" y="1325880"/>
            <a:ext cx="86868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STD-008-CPP: Range-check container access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85800" y="1847088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85800" y="1847088"/>
            <a:ext cx="73152" cy="13716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2960" y="1956816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Test 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Confirm that a valid container index returns the expected value.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069080" y="1783080"/>
            <a:ext cx="4069080" cy="3611880"/>
          </a:xfrm>
          <a:prstGeom prst="roundRect">
            <a:avLst/>
          </a:prstGeom>
          <a:solidFill>
            <a:srgbClr val="F6F8F9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40" y="190195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74E"/>
                </a:solidFill>
                <a:latin typeface="Arial"/>
              </a:rPr>
              <a:t>GoogleTest example
</a:t>
            </a:r>
          </a:p>
          <a:p>
            <a:r>
              <a:rPr sz="1000" b="0">
                <a:solidFill>
                  <a:srgbClr val="192026"/>
                </a:solidFill>
                <a:latin typeface="Arial"/>
              </a:rPr>
              <a:t>TEST(ContainerTests, AllowsValidIndex) {
  std::vector&lt;int&gt; scores = {90, 85};
  int result = get_score(scores, 1);
  EXPECT_EQ(result, 85);
}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66760" y="1847088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366760" y="1847088"/>
            <a:ext cx="73152" cy="132588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503920" y="1956816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Vulnerability caught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This is a positive test. It confirms that range checking still allows valid indexes.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66760" y="3456432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366760" y="3456432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03920" y="356616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Take it further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Add tests for the first index, last valid index, and vectors with one value.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>
                <a:solidFill>
                  <a:srgbClr val="E1EBEB"/>
                </a:solidFill>
                <a:latin typeface="Arial"/>
              </a:rPr>
              <a:t>Expected result: PASS when valid access returns the score; FAIL if normal access is broken.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SEI CERT CTR50-CPP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13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FD995E99-77CD-2773-7283-8016C5CEBBE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504e29505_0_0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Unit Test 6: Invalid Index Throws</a:t>
            </a:r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31520" y="1325880"/>
            <a:ext cx="86868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STD-008-CPP: Range-check container access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85800" y="1847088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85800" y="1847088"/>
            <a:ext cx="73152" cy="13716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2960" y="1956816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Test 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Check that the code refuses an index outside the valid container range.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069080" y="1783080"/>
            <a:ext cx="4069080" cy="3611880"/>
          </a:xfrm>
          <a:prstGeom prst="roundRect">
            <a:avLst/>
          </a:prstGeom>
          <a:solidFill>
            <a:srgbClr val="F6F8F9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206240" y="1901952"/>
            <a:ext cx="374903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74E"/>
                </a:solidFill>
                <a:latin typeface="Arial"/>
              </a:rPr>
              <a:t>GoogleTest example
</a:t>
            </a:r>
          </a:p>
          <a:p>
            <a:r>
              <a:rPr sz="1000" b="0">
                <a:solidFill>
                  <a:srgbClr val="192026"/>
                </a:solidFill>
                <a:latin typeface="Arial"/>
              </a:rPr>
              <a:t>TEST(ContainerTests, RejectsBadIndex) {
  std::vector&lt;int&gt; scores = {90, 85};
  EXPECT_THROW(
    get_score(scores, 2),
    std::out_of_range);
}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66760" y="1847088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366760" y="1847088"/>
            <a:ext cx="73152" cy="132588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503920" y="1956816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Vulnerability caught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This catches out-of-range access that could crash the program or read/write the wrong memory.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66760" y="3456432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366760" y="3456432"/>
            <a:ext cx="73152" cy="141732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03920" y="356616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Take it further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Add tests for empty vectors, first index, last valid index, and one-past-the-end.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>
                <a:solidFill>
                  <a:srgbClr val="E1EBEB"/>
                </a:solidFill>
                <a:latin typeface="Arial"/>
              </a:rPr>
              <a:t>Expected result: PASS when secure behavior is enforced; FAIL if unsafe behavior is allowed.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Source: SEI CERT CTR50-CPP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14</a:t>
            </a:r>
          </a:p>
        </p:txBody>
      </p:sp>
      <p:pic>
        <p:nvPicPr>
          <p:cNvPr id="3" name="Google Shape;169;p5" descr="Green Pace logo">
            <a:extLst>
              <a:ext uri="{FF2B5EF4-FFF2-40B4-BE49-F238E27FC236}">
                <a16:creationId xmlns:a16="http://schemas.microsoft.com/office/drawing/2014/main" id="{1AA0597A-40EF-1029-F6B1-6801475D4DB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AUTOMATION SUMMARY</a:t>
            </a:r>
            <a:endParaRPr/>
          </a:p>
        </p:txBody>
      </p:sp>
      <p:pic>
        <p:nvPicPr>
          <p:cNvPr id="204" name="Google Shape;204;p9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TextBox 204"/>
          <p:cNvSpPr txBox="1"/>
          <p:nvPr/>
        </p:nvSpPr>
        <p:spPr>
          <a:xfrm>
            <a:off x="731520" y="1417320"/>
            <a:ext cx="91440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Green Pace should place security checks across the DevSecOps flow, not only at the end.</a:t>
            </a:r>
          </a:p>
        </p:txBody>
      </p:sp>
      <p:graphicFrame>
        <p:nvGraphicFramePr>
          <p:cNvPr id="206" name="Table 205"/>
          <p:cNvGraphicFramePr>
            <a:graphicFrameLocks noGrp="1"/>
          </p:cNvGraphicFramePr>
          <p:nvPr/>
        </p:nvGraphicFramePr>
        <p:xfrm>
          <a:off x="685800" y="1874519"/>
          <a:ext cx="67665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Security automation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When compiler is used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Create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IDE security plug-ins, compiler warnings, local unit tests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During local builds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GoogleTest, static analysis, dependency checks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Every CI build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Verify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Integration tests, fuzzing, security scan review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Not normally used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Release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Quality gate blocks high-severity findings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Not used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Application logs, security alerts, audit review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92026"/>
                          </a:solidFill>
                          <a:latin typeface="Arial"/>
                        </a:rPr>
                        <a:t>Not used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7" name="TextBox 206"/>
          <p:cNvSpPr txBox="1"/>
          <p:nvPr/>
        </p:nvSpPr>
        <p:spPr>
          <a:xfrm>
            <a:off x="7726679" y="1920240"/>
            <a:ext cx="34290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Policy decision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26679" y="2331720"/>
            <a:ext cx="3429000" cy="20116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Compiler warnings must be reviewed, not ignored.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Unit tests and static scans should run before code moves forward.</a:t>
            </a:r>
          </a:p>
          <a:p>
            <a:pPr algn="l"/>
            <a:r>
              <a:rPr sz="1600" b="0">
                <a:solidFill>
                  <a:srgbClr val="E1EBEB"/>
                </a:solidFill>
                <a:latin typeface="Arial"/>
              </a:rPr>
              <a:t>• Critical findings should create a stop-and-fix moment.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7726679" y="4892040"/>
            <a:ext cx="3429000" cy="73152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500" b="1">
                <a:solidFill>
                  <a:srgbClr val="60914C"/>
                </a:solidFill>
                <a:latin typeface="Arial"/>
              </a:rPr>
              <a:t>The goal is simple: make secure behavior part of the normal workflow.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OWASP SAMM; Green Pace policy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15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4640717" y="200748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 dirty="0">
                <a:solidFill>
                  <a:srgbClr val="75BED2"/>
                </a:solidFill>
                <a:latin typeface="Arial"/>
              </a:rPr>
              <a:t>TOOLS</a:t>
            </a:r>
            <a:endParaRPr dirty="0"/>
          </a:p>
        </p:txBody>
      </p:sp>
      <p:sp>
        <p:nvSpPr>
          <p:cNvPr id="212" name="TextBox 211"/>
          <p:cNvSpPr txBox="1"/>
          <p:nvPr/>
        </p:nvSpPr>
        <p:spPr>
          <a:xfrm>
            <a:off x="1531283" y="611067"/>
            <a:ext cx="96012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 dirty="0">
                <a:solidFill>
                  <a:srgbClr val="BECDCD"/>
                </a:solidFill>
                <a:latin typeface="Arial"/>
              </a:rPr>
              <a:t>External tools support the policy by finding issues before release and keeping evidence after release.</a:t>
            </a:r>
          </a:p>
        </p:txBody>
      </p:sp>
      <p:graphicFrame>
        <p:nvGraphicFramePr>
          <p:cNvPr id="213" name="Table 2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52081"/>
              </p:ext>
            </p:extLst>
          </p:nvPr>
        </p:nvGraphicFramePr>
        <p:xfrm>
          <a:off x="582262" y="1126216"/>
          <a:ext cx="5175484" cy="2743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405">
                <a:tc>
                  <a:txBody>
                    <a:bodyPr/>
                    <a:lstStyle/>
                    <a:p>
                      <a:r>
                        <a:rPr sz="919" b="1" dirty="0">
                          <a:solidFill>
                            <a:srgbClr val="FFFFFF"/>
                          </a:solidFill>
                          <a:latin typeface="Arial"/>
                        </a:rPr>
                        <a:t>Tool/check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 dirty="0">
                          <a:solidFill>
                            <a:srgbClr val="FFFFFF"/>
                          </a:solidFill>
                          <a:latin typeface="Arial"/>
                        </a:rPr>
                        <a:t>Used where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 dirty="0">
                          <a:solidFill>
                            <a:srgbClr val="FFFFFF"/>
                          </a:solidFill>
                          <a:latin typeface="Arial"/>
                        </a:rPr>
                        <a:t>How it helps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84">
                <a:tc>
                  <a:txBody>
                    <a:bodyPr/>
                    <a:lstStyle/>
                    <a:p>
                      <a:r>
                        <a:rPr sz="919" b="0" dirty="0">
                          <a:solidFill>
                            <a:srgbClr val="192026"/>
                          </a:solidFill>
                          <a:latin typeface="Arial"/>
                        </a:rPr>
                        <a:t>Compiler warnings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Create / Build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Flags unsafe conversions, uninitialized values, and other issues early.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84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GoogleTest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dirty="0">
                          <a:solidFill>
                            <a:srgbClr val="192026"/>
                          </a:solidFill>
                          <a:latin typeface="Arial"/>
                        </a:rPr>
                        <a:t>Runs repeatable positive and negative unit tests.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84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CodeQL cpp/sql-injection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Create / Build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Finds SQL queries built from uncontrolled data.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84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Parasoft C/C++test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dirty="0">
                          <a:solidFill>
                            <a:srgbClr val="192026"/>
                          </a:solidFill>
                          <a:latin typeface="Arial"/>
                        </a:rPr>
                        <a:t>Build / Verify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dirty="0">
                          <a:solidFill>
                            <a:srgbClr val="192026"/>
                          </a:solidFill>
                          <a:latin typeface="Arial"/>
                        </a:rPr>
                        <a:t>Checks CERT C/C++ rules such as STR50, CTR50, and INT32.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784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SonarQube S2486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Create / Build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Flags exceptions that are caught and ignored.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786">
                <a:tc>
                  <a:txBody>
                    <a:bodyPr/>
                    <a:lstStyle/>
                    <a:p>
                      <a:r>
                        <a:rPr sz="919" b="0" dirty="0">
                          <a:solidFill>
                            <a:srgbClr val="192026"/>
                          </a:solidFill>
                          <a:latin typeface="Arial"/>
                        </a:rPr>
                        <a:t>Logs and alerts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92026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 dirty="0">
                          <a:solidFill>
                            <a:srgbClr val="192026"/>
                          </a:solidFill>
                          <a:latin typeface="Arial"/>
                        </a:rPr>
                        <a:t>Help investigate suspicious behavior after deployment.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4" name="Rounded Rectangle 213"/>
          <p:cNvSpPr/>
          <p:nvPr/>
        </p:nvSpPr>
        <p:spPr>
          <a:xfrm>
            <a:off x="6095999" y="1033041"/>
            <a:ext cx="2579650" cy="1906057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 dirty="0" err="1">
                <a:solidFill>
                  <a:srgbClr val="12374E"/>
                </a:solidFill>
                <a:latin typeface="Arial"/>
              </a:rPr>
              <a:t>DevSecOps</a:t>
            </a:r>
            <a:r>
              <a:rPr sz="1200" b="1" dirty="0">
                <a:solidFill>
                  <a:srgbClr val="12374E"/>
                </a:solidFill>
                <a:latin typeface="Arial"/>
              </a:rPr>
              <a:t> flow</a:t>
            </a:r>
          </a:p>
          <a:p>
            <a:pPr algn="ctr"/>
            <a:r>
              <a:rPr sz="1200" b="1" dirty="0">
                <a:solidFill>
                  <a:srgbClr val="12374E"/>
                </a:solidFill>
                <a:latin typeface="Arial"/>
              </a:rPr>
              <a:t>Create → Build → Verify → Release → Monitor</a:t>
            </a:r>
          </a:p>
          <a:p>
            <a:pPr algn="ctr"/>
            <a:endParaRPr sz="1200" b="1" dirty="0">
              <a:solidFill>
                <a:srgbClr val="12374E"/>
              </a:solidFill>
              <a:latin typeface="Arial"/>
            </a:endParaRPr>
          </a:p>
          <a:p>
            <a:pPr algn="ctr"/>
            <a:r>
              <a:rPr sz="1200" b="1" dirty="0">
                <a:solidFill>
                  <a:srgbClr val="12374E"/>
                </a:solidFill>
                <a:latin typeface="Arial"/>
              </a:rPr>
              <a:t>Security automation should appear in more than one place, so the team is not depending on a single final scan.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65760" y="6475451"/>
            <a:ext cx="4389120" cy="1815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 dirty="0">
                <a:solidFill>
                  <a:srgbClr val="C8CDC8"/>
                </a:solidFill>
                <a:latin typeface="Arial"/>
              </a:rPr>
              <a:t>Sources: </a:t>
            </a:r>
            <a:r>
              <a:rPr sz="700" b="0" dirty="0" err="1">
                <a:solidFill>
                  <a:srgbClr val="C8CDC8"/>
                </a:solidFill>
                <a:latin typeface="Arial"/>
              </a:rPr>
              <a:t>CodeQL</a:t>
            </a:r>
            <a:r>
              <a:rPr sz="700" b="0" dirty="0">
                <a:solidFill>
                  <a:srgbClr val="C8CDC8"/>
                </a:solidFill>
                <a:latin typeface="Arial"/>
              </a:rPr>
              <a:t>; </a:t>
            </a:r>
            <a:r>
              <a:rPr sz="700" b="0" dirty="0" err="1">
                <a:solidFill>
                  <a:srgbClr val="C8CDC8"/>
                </a:solidFill>
                <a:latin typeface="Arial"/>
              </a:rPr>
              <a:t>SonarSource</a:t>
            </a:r>
            <a:r>
              <a:rPr sz="700" b="0" dirty="0">
                <a:solidFill>
                  <a:srgbClr val="C8CDC8"/>
                </a:solidFill>
                <a:latin typeface="Arial"/>
              </a:rPr>
              <a:t>; </a:t>
            </a:r>
            <a:r>
              <a:rPr sz="700" b="0" dirty="0" err="1">
                <a:solidFill>
                  <a:srgbClr val="C8CDC8"/>
                </a:solidFill>
                <a:latin typeface="Arial"/>
              </a:rPr>
              <a:t>GoogleTest</a:t>
            </a:r>
            <a:r>
              <a:rPr sz="700" b="0" dirty="0">
                <a:solidFill>
                  <a:srgbClr val="C8CDC8"/>
                </a:solidFill>
                <a:latin typeface="Arial"/>
              </a:rPr>
              <a:t>; SEI CERT</a:t>
            </a:r>
            <a:r>
              <a:rPr lang="en-US" sz="700" b="0" dirty="0">
                <a:solidFill>
                  <a:srgbClr val="C8CDC8"/>
                </a:solidFill>
                <a:latin typeface="Arial"/>
              </a:rPr>
              <a:t>, </a:t>
            </a:r>
            <a:r>
              <a:rPr lang="en-US" sz="700" b="0" dirty="0" err="1">
                <a:solidFill>
                  <a:srgbClr val="C8CDC8"/>
                </a:solidFill>
                <a:latin typeface="Arial"/>
              </a:rPr>
              <a:t>Parasoft</a:t>
            </a:r>
            <a:r>
              <a:rPr lang="en-US" sz="700" dirty="0">
                <a:solidFill>
                  <a:srgbClr val="C8CDC8"/>
                </a:solidFill>
              </a:rPr>
              <a:t>, Microsoft Visual Studio, </a:t>
            </a:r>
            <a:r>
              <a:rPr lang="en-US" sz="700" dirty="0" err="1">
                <a:solidFill>
                  <a:srgbClr val="C8CDC8"/>
                </a:solidFill>
              </a:rPr>
              <a:t>Cppcheck</a:t>
            </a:r>
            <a:endParaRPr sz="700" b="0" dirty="0">
              <a:solidFill>
                <a:srgbClr val="C8CDC8"/>
              </a:solidFill>
              <a:latin typeface="Arial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365760" y="6603070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 dirty="0">
                <a:solidFill>
                  <a:srgbClr val="C8CDC8"/>
                </a:solidFill>
                <a:latin typeface="Arial"/>
              </a:rPr>
              <a:t>CS 405 Project Two | Green Pace | 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3224F-C995-D224-AA2B-2E0A41ECF2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171" r="44896" b="33944"/>
          <a:stretch>
            <a:fillRect/>
          </a:stretch>
        </p:blipFill>
        <p:spPr>
          <a:xfrm>
            <a:off x="6184759" y="3501767"/>
            <a:ext cx="5700034" cy="1938759"/>
          </a:xfrm>
          <a:prstGeom prst="rect">
            <a:avLst/>
          </a:prstGeom>
        </p:spPr>
      </p:pic>
      <p:pic>
        <p:nvPicPr>
          <p:cNvPr id="211" name="Google Shape;211;p10" descr="Green Pace log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A061C-0511-ED88-5AC9-DB2BD18D9D09}"/>
              </a:ext>
            </a:extLst>
          </p:cNvPr>
          <p:cNvSpPr txBox="1"/>
          <p:nvPr/>
        </p:nvSpPr>
        <p:spPr>
          <a:xfrm>
            <a:off x="6444360" y="5442097"/>
            <a:ext cx="6806957" cy="44319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Visual Studio Code Analysis: 5 warnings and 7 messages, including </a:t>
            </a:r>
          </a:p>
          <a:p>
            <a:r>
              <a:rPr lang="en-US" sz="1200" dirty="0">
                <a:solidFill>
                  <a:schemeClr val="bg1"/>
                </a:solidFill>
              </a:rPr>
              <a:t>C26495 uninitialized member variable and C6386 buffer overrun.</a:t>
            </a:r>
            <a:endParaRPr sz="120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F8AE3-9D13-33D2-23A5-DC48CAE7F27C}"/>
              </a:ext>
            </a:extLst>
          </p:cNvPr>
          <p:cNvSpPr txBox="1"/>
          <p:nvPr/>
        </p:nvSpPr>
        <p:spPr>
          <a:xfrm>
            <a:off x="279878" y="5663696"/>
            <a:ext cx="6078600" cy="62786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Cppcheck</a:t>
            </a:r>
            <a:r>
              <a:rPr lang="en-US" sz="1200" dirty="0">
                <a:solidFill>
                  <a:schemeClr val="bg1"/>
                </a:solidFill>
              </a:rPr>
              <a:t> static analysis: flagged assertion side effects at lines 127 and 129, a direct violation of STD-006-CPP. The information rows are missing-header notices from tool setup, not code defects.</a:t>
            </a:r>
            <a:endParaRPr sz="1200" b="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A21D4A-3358-D13A-D51A-E076B9BD24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69" b="64188"/>
          <a:stretch>
            <a:fillRect/>
          </a:stretch>
        </p:blipFill>
        <p:spPr>
          <a:xfrm>
            <a:off x="256249" y="4064436"/>
            <a:ext cx="6102229" cy="14532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RISKS AND BENEFITS</a:t>
            </a:r>
            <a:endParaRPr/>
          </a:p>
        </p:txBody>
      </p:sp>
      <p:pic>
        <p:nvPicPr>
          <p:cNvPr id="218" name="Google Shape;218;p11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TextBox 218"/>
          <p:cNvSpPr txBox="1"/>
          <p:nvPr/>
        </p:nvSpPr>
        <p:spPr>
          <a:xfrm>
            <a:off x="731520" y="1417320"/>
            <a:ext cx="96012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Green Pace should focus first on issues with high damage and realistic exploit paths.</a:t>
            </a:r>
          </a:p>
        </p:txBody>
      </p:sp>
      <p:graphicFrame>
        <p:nvGraphicFramePr>
          <p:cNvPr id="220" name="Table 219"/>
          <p:cNvGraphicFramePr>
            <a:graphicFrameLocks noGrp="1"/>
          </p:cNvGraphicFramePr>
          <p:nvPr/>
        </p:nvGraphicFramePr>
        <p:xfrm>
          <a:off x="731520" y="1965960"/>
          <a:ext cx="67208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If Green Pace acts now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If Green Pace waits</a:t>
                      </a:r>
                    </a:p>
                  </a:txBody>
                  <a:tcPr marL="36576" marR="36576" marT="27432" marB="27432">
                    <a:solidFill>
                      <a:srgbClr val="12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Vulnerabilities are cheaper to fix while code is fresh.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Fixes may require redesign after release.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Unit tests provide repeatable evidence that expected secure behavior still works.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A regression can bring the same bug back later.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Static analysis catches patterns developers may miss.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Issues may be found by users, auditors, or attackers first.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Logs and Triple-A controls support investigations.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92026"/>
                          </a:solidFill>
                          <a:latin typeface="Arial"/>
                        </a:rPr>
                        <a:t>The team may lack evidence after an incident.</a:t>
                      </a:r>
                    </a:p>
                  </a:txBody>
                  <a:tcPr marL="36576" marR="36576" marT="27432" marB="27432">
                    <a:solidFill>
                      <a:srgbClr val="F8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1" name="Rounded Rectangle 220"/>
          <p:cNvSpPr/>
          <p:nvPr/>
        </p:nvSpPr>
        <p:spPr>
          <a:xfrm>
            <a:off x="7726679" y="19202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7726679" y="1920240"/>
            <a:ext cx="73152" cy="100584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863840" y="202996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Address first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SQL injection, memory protection, integer overflow, string storage, and container range checks.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726679" y="3182112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7726679" y="3182112"/>
            <a:ext cx="73152" cy="100584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863840" y="3291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Main benefit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The team catches serious problems while they are still small enough to fix cleanly.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7726679" y="4443984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7726679" y="4443984"/>
            <a:ext cx="73152" cy="1005840"/>
          </a:xfrm>
          <a:prstGeom prst="rect">
            <a:avLst/>
          </a:prstGeom>
          <a:solidFill>
            <a:srgbClr val="DB9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7863840" y="4553712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Main risk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92026"/>
                </a:solidFill>
                <a:latin typeface="Arial"/>
              </a:rPr>
              <a:t>Waiting turns a code issue into a business issue: data exposure, downtime, or lost trust.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OWASP Top 10; Green Pace policy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17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RECOMMENDATIONS</a:t>
            </a:r>
            <a:endParaRPr/>
          </a:p>
        </p:txBody>
      </p:sp>
      <p:pic>
        <p:nvPicPr>
          <p:cNvPr id="225" name="Google Shape;225;p12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TextBox 225"/>
          <p:cNvSpPr txBox="1"/>
          <p:nvPr/>
        </p:nvSpPr>
        <p:spPr>
          <a:xfrm>
            <a:off x="731520" y="1417320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The next version of the policy should make testing and automation easier to follow.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731520" y="1874519"/>
            <a:ext cx="4937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731520" y="1874519"/>
            <a:ext cx="73152" cy="685800"/>
          </a:xfrm>
          <a:prstGeom prst="rect">
            <a:avLst/>
          </a:prstGeom>
          <a:solidFill>
            <a:srgbClr val="B44B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68680" y="198424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Gap 1: Testing evidence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Add a required test-evidence section for each standard so developers show how the rule was tested.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731520" y="2788920"/>
            <a:ext cx="4937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731520" y="2788920"/>
            <a:ext cx="73152" cy="68580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868680" y="289864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Gap 2: Automation gates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Define which findings block a release and who can approve exceptions.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731520" y="3703320"/>
            <a:ext cx="4937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731520" y="3703320"/>
            <a:ext cx="73152" cy="68580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868680" y="381304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Gap 3: Logging detail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Set minimum application logging requirements, not just operating system and firewall logs.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731520" y="4617720"/>
            <a:ext cx="4937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731520" y="4617720"/>
            <a:ext cx="73152" cy="685800"/>
          </a:xfrm>
          <a:prstGeom prst="rect">
            <a:avLst/>
          </a:prstGeom>
          <a:solidFill>
            <a:srgbClr val="DB9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868680" y="472744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Gap 4: Dependency risk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92026"/>
                </a:solidFill>
                <a:latin typeface="Arial"/>
              </a:rPr>
              <a:t>Add a standard for outdated third-party libraries and package scanning.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400800" y="1874519"/>
            <a:ext cx="45720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E1EBEB"/>
                </a:solidFill>
                <a:latin typeface="Arial"/>
              </a:rPr>
              <a:t>Why these gaps matter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400800" y="2286000"/>
            <a:ext cx="4663440" cy="1737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0">
                <a:solidFill>
                  <a:srgbClr val="E1EBEB"/>
                </a:solidFill>
                <a:latin typeface="Arial"/>
              </a:rPr>
              <a:t>• Policy alone is not enough. The team needs proof that standards are being followed.</a:t>
            </a:r>
          </a:p>
          <a:p>
            <a:pPr algn="l"/>
            <a:r>
              <a:rPr sz="1500" b="0">
                <a:solidFill>
                  <a:srgbClr val="E1EBEB"/>
                </a:solidFill>
                <a:latin typeface="Arial"/>
              </a:rPr>
              <a:t>• A quality gate makes the rule clear: high-risk findings cannot be ignored.</a:t>
            </a:r>
          </a:p>
          <a:p>
            <a:pPr algn="l"/>
            <a:r>
              <a:rPr sz="1500" b="0">
                <a:solidFill>
                  <a:srgbClr val="E1EBEB"/>
                </a:solidFill>
                <a:latin typeface="Arial"/>
              </a:rPr>
              <a:t>• Future threats will include more supply-chain and dependency problems, not only code written by Green Pace.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446520" y="4663440"/>
            <a:ext cx="4297680" cy="640080"/>
          </a:xfrm>
          <a:prstGeom prst="roundRect">
            <a:avLst/>
          </a:prstGeom>
          <a:solidFill>
            <a:srgbClr val="E8F1E2"/>
          </a:solidFill>
          <a:ln w="12700">
            <a:solidFill>
              <a:srgbClr val="BF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500" b="1">
                <a:solidFill>
                  <a:srgbClr val="12374E"/>
                </a:solidFill>
                <a:latin typeface="Arial"/>
              </a:rPr>
              <a:t>Adopt next: secure build + defect management practices from OWASP SAMM.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31520" y="6199632"/>
            <a:ext cx="438912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Sources: OWASP SAMM; OWASP Top 10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18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CONCLUSIONS</a:t>
            </a:r>
            <a:endParaRPr/>
          </a:p>
        </p:txBody>
      </p:sp>
      <p:pic>
        <p:nvPicPr>
          <p:cNvPr id="232" name="Google Shape;232;p13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TextBox 232"/>
          <p:cNvSpPr txBox="1"/>
          <p:nvPr/>
        </p:nvSpPr>
        <p:spPr>
          <a:xfrm>
            <a:off x="731520" y="1417320"/>
            <a:ext cx="96012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The policy should become a normal part of how Green Pace builds software.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14400" y="1828800"/>
            <a:ext cx="9875520" cy="8229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2100" b="1">
                <a:solidFill>
                  <a:srgbClr val="60914C"/>
                </a:solidFill>
                <a:latin typeface="Arial"/>
              </a:rPr>
              <a:t>Green Pace does not need a policy that sits in a folder. It needs a policy that developers use while designing, coding, testing, releasing, and monitoring software.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868680" y="30632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68680" y="3063240"/>
            <a:ext cx="73152" cy="1051560"/>
          </a:xfrm>
          <a:prstGeom prst="rect">
            <a:avLst/>
          </a:prstGeom>
          <a:solidFill>
            <a:srgbClr val="6091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005839" y="31729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1. Prevent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Use coding standards, encryption, and Triple-A controls before vulnerabilities become production problems.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389120" y="30632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4389120" y="3063240"/>
            <a:ext cx="73152" cy="1051560"/>
          </a:xfrm>
          <a:prstGeom prst="rect">
            <a:avLst/>
          </a:prstGeom>
          <a:solidFill>
            <a:srgbClr val="4A7E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4526280" y="31729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2. Detect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Use unit testing, compiler warnings, static analysis, and logging to catch problems early.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7909560" y="30632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7909560" y="3063240"/>
            <a:ext cx="73152" cy="1051560"/>
          </a:xfrm>
          <a:prstGeom prst="rect">
            <a:avLst/>
          </a:prstGeom>
          <a:solidFill>
            <a:srgbClr val="DB9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8046720" y="31729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74E"/>
                </a:solidFill>
                <a:latin typeface="Arial"/>
              </a:rPr>
              <a:t>3. Improve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92026"/>
                </a:solidFill>
                <a:latin typeface="Arial"/>
              </a:rPr>
              <a:t>Use risk reviews, gap analysis, and future standards to keep the policy current.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14400" y="5074920"/>
            <a:ext cx="1042416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700" b="1">
                <a:solidFill>
                  <a:srgbClr val="E1EBEB"/>
                </a:solidFill>
                <a:latin typeface="Arial"/>
              </a:rPr>
              <a:t>Recommended next step: pilot the policy on one active project, collect test evidence, and tune the automation gates before applying it everywhere.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19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sz="3000" b="1">
                <a:solidFill>
                  <a:srgbClr val="75BED2"/>
                </a:solidFill>
                <a:latin typeface="Arial"/>
              </a:rPr>
              <a:t>REFERENCES</a:t>
            </a:r>
            <a:endParaRPr/>
          </a:p>
        </p:txBody>
      </p:sp>
      <p:pic>
        <p:nvPicPr>
          <p:cNvPr id="239" name="Google Shape;239;p14" descr="Green Pace log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TextBox 239"/>
          <p:cNvSpPr txBox="1"/>
          <p:nvPr/>
        </p:nvSpPr>
        <p:spPr>
          <a:xfrm>
            <a:off x="731520" y="1325880"/>
            <a:ext cx="82296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0">
                <a:solidFill>
                  <a:srgbClr val="BECDCD"/>
                </a:solidFill>
                <a:latin typeface="Arial"/>
              </a:rPr>
              <a:t>APA-style sources used to support the presentation.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1520" y="1737360"/>
            <a:ext cx="5303520" cy="44805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GitHub. (n.d.). Uncontrolled data in SQL query. CodeQL query help for C/C++. https://codeql.github.com/codeql-query-help/cpp/cpp-sql-injection/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Google. (n.d.). GoogleTest primer. https://google.github.io/googletest/primer.html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National Institute of Standards and Technology. (2019). Guidelines for the selection, configuration, and use of Transport Layer Security implementations (SP 800-52 Rev. 2). https://csrc.nist.gov/pubs/sp/800/52/r2/final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National Institute of Standards and Technology. (2020). Security and privacy controls for information systems and organizations (SP 800-53 Rev. 5). https://csrc.nist.gov/pubs/sp/800/53/r5/upd1/final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National Institute of Standards and Technology. (2020). Recommendation for key management: Part 1: General (SP 800-57 Part 1 Rev. 5). https://csrc.nist.gov/pubs/sp/800/57/pt1/r5/final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National Institute of Standards and Technology. (2025). Digital identity guidelines: Authentication and authenticator management (SP 800-63B-4). https://csrc.nist.gov/pubs/sp/800/63/b/4/final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172200" y="1737360"/>
            <a:ext cx="5303520" cy="44805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Open Worldwide Application Security Project. (2025). OWASP Top 10. https://owasp.org/www-project-top-ten/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Open Worldwide Application Security Project. (n.d.). OWASP SAMM. https://owasp.org/www-project-samm/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Software Engineering Institute. (n.d.). SEI CERT C++ Coding Standard. https://cmu-sei.github.io/secure-coding-standards/sei-cert-cpp-coding-standard/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Medina, J. (2026). Green Pace Project One security policy. Unpublished course assignment.</a:t>
            </a:r>
          </a:p>
          <a:p>
            <a:pPr algn="l"/>
            <a:endParaRPr sz="800" b="0">
              <a:solidFill>
                <a:srgbClr val="E1EBEB"/>
              </a:solidFill>
              <a:latin typeface="Arial"/>
            </a:endParaRPr>
          </a:p>
          <a:p>
            <a:pPr algn="l"/>
            <a:r>
              <a:rPr sz="800" b="0">
                <a:solidFill>
                  <a:srgbClr val="E1EBEB"/>
                </a:solidFill>
                <a:latin typeface="Arial"/>
              </a:rPr>
              <a:t>Medina, J. (2026). Module Four milestone: Google unit testing. Unpublished course assignment.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5760" y="6565392"/>
            <a:ext cx="3108960" cy="14630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700" b="0">
                <a:solidFill>
                  <a:srgbClr val="C8CDC8"/>
                </a:solidFill>
                <a:latin typeface="Arial"/>
              </a:rPr>
              <a:t>CS 405 Project Two | Green Pace | 20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267F6D1A260A4394C18F5AF72445EA" ma:contentTypeVersion="3" ma:contentTypeDescription="Create a new document." ma:contentTypeScope="" ma:versionID="d6a723735a0ade9a92961b83aee31d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345bd7673956a623930e5662e321f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9B35DD-16B6-4415-A905-CDACA4FC6DBE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398236C-7FA9-40C9-B456-AA158A506A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B4D054-FC38-43E0-B24C-8E3420B75B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3435</Words>
  <Application>Microsoft Office PowerPoint</Application>
  <PresentationFormat>Widescreen</PresentationFormat>
  <Paragraphs>435</Paragraphs>
  <Slides>20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Century Gothic</vt:lpstr>
      <vt:lpstr>Arial</vt:lpstr>
      <vt:lpstr>Vapor Trail</vt:lpstr>
      <vt:lpstr>PowerPoint Presentation</vt:lpstr>
      <vt:lpstr>OVERVIEW: DEFENSE IN DEPTH</vt:lpstr>
      <vt:lpstr>THREATS MATRIX</vt:lpstr>
      <vt:lpstr>10 PRINCIPLES</vt:lpstr>
      <vt:lpstr>CODING STANDARDS</vt:lpstr>
      <vt:lpstr>ENCRYPTION POLICIES</vt:lpstr>
      <vt:lpstr>TRIPLE-A POLICIES</vt:lpstr>
      <vt:lpstr>Unit Testing</vt:lpstr>
      <vt:lpstr>Unit Test 1: Valid Login Authenticates</vt:lpstr>
      <vt:lpstr>Unit Test 2: SQL Injection Is Rejected</vt:lpstr>
      <vt:lpstr>Unit Test 3: Safe Addition Works</vt:lpstr>
      <vt:lpstr>Unit Test 4: Signed Overflow Throws</vt:lpstr>
      <vt:lpstr>Unit Test 5: Valid Index Returns Score</vt:lpstr>
      <vt:lpstr>Unit Test 6: Invalid Index Throws</vt:lpstr>
      <vt:lpstr>AUTOMATION SUMMARY</vt:lpstr>
      <vt:lpstr>TOOLS</vt:lpstr>
      <vt:lpstr>RISKS AND BENEFITS</vt:lpstr>
      <vt:lpstr>RECOMMENDATIONS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405 Project Two Presentation Template</dc:title>
  <dc:creator>Kathy Shields</dc:creator>
  <cp:lastModifiedBy>Jose</cp:lastModifiedBy>
  <cp:revision>11</cp:revision>
  <dcterms:created xsi:type="dcterms:W3CDTF">2020-08-19T17:59:24Z</dcterms:created>
  <dcterms:modified xsi:type="dcterms:W3CDTF">2026-08-15T17:13:52Z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DA78308B-55B0-44AB-B406-C6A80F5E53EB</vt:lpwstr>
  </property>
  <property fmtid="{D5CDD505-2E9C-101B-9397-08002B2CF9AE}" pid="3" name="ArticulatePath">
    <vt:lpwstr>CS 405 P2 Presentation Template</vt:lpwstr>
  </property>
  <property fmtid="{D5CDD505-2E9C-101B-9397-08002B2CF9AE}" pid="4" name="ContentTypeId">
    <vt:lpwstr>0x01010019267F6D1A260A4394C18F5AF72445EA</vt:lpwstr>
  </property>
</Properties>
</file>